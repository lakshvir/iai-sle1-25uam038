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emiBold" pitchFamily="2" charset="0"/>
      <p:regular r:id="rId13"/>
    </p:embeddedFont>
    <p:embeddedFont>
      <p:font typeface="PT Sans" panose="020B0503020203020204" pitchFamily="34" charset="0"/>
      <p:regular r:id="rId14"/>
    </p:embeddedFont>
    <p:embeddedFont>
      <p:font typeface="PT Sans Bold" panose="020B0703020203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DFB7D-66A4-4C7B-AF53-22AFD36762BF}" v="1" dt="2026-08-29T20:25:27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68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1699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vir01@gmail.com" userId="35a8192c80f3b2b4" providerId="LiveId" clId="{C61F519C-A524-4B8F-BA3E-88F339F28607}"/>
    <pc:docChg chg="modSld">
      <pc:chgData name="lakshvir01@gmail.com" userId="35a8192c80f3b2b4" providerId="LiveId" clId="{C61F519C-A524-4B8F-BA3E-88F339F28607}" dt="2026-08-29T20:25:27.162" v="0" actId="767"/>
      <pc:docMkLst>
        <pc:docMk/>
      </pc:docMkLst>
      <pc:sldChg chg="addSp modSp">
        <pc:chgData name="lakshvir01@gmail.com" userId="35a8192c80f3b2b4" providerId="LiveId" clId="{C61F519C-A524-4B8F-BA3E-88F339F28607}" dt="2026-08-29T20:25:27.162" v="0" actId="767"/>
        <pc:sldMkLst>
          <pc:docMk/>
          <pc:sldMk cId="0" sldId="264"/>
        </pc:sldMkLst>
        <pc:spChg chg="add mod">
          <ac:chgData name="lakshvir01@gmail.com" userId="35a8192c80f3b2b4" providerId="LiveId" clId="{C61F519C-A524-4B8F-BA3E-88F339F28607}" dt="2026-08-29T20:25:27.162" v="0" actId="767"/>
          <ac:spMkLst>
            <pc:docMk/>
            <pc:sldMk cId="0" sldId="264"/>
            <ac:spMk id="24" creationId="{7D67B910-9B4F-ECDC-2927-AE1DCE4F3C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25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086" y="2074863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PEAS Framework in Artificial Intelligence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327995"/>
            <a:ext cx="62236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Case Study: Modern Autonomous Delivery Drones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920430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Lakshvir Singh</a:t>
            </a: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PRN: 25UAM038 · CSE (AI &amp; ML)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Introduction to Artificial Intelligence</a:t>
            </a:r>
            <a:endParaRPr lang="en-US" sz="15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660A2E-E84B-70B3-8C1B-D765E5C42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032" y="0"/>
            <a:ext cx="49409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48580"/>
            <a:ext cx="587856" cy="151408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57913" y="578445"/>
            <a:ext cx="1077786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FOUNDATION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98086" y="719931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What is an Intelligent Agent?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8086" y="1087934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 </a:t>
            </a: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intelligent agent</a:t>
            </a: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anything that perceives its environment through </a:t>
            </a: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sensors</a:t>
            </a: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processes that information, and takes actions through </a:t>
            </a: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actuators</a:t>
            </a: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achieve its goals efficiently.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571" y="1263650"/>
            <a:ext cx="6006553" cy="60066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75970" y="2445903"/>
            <a:ext cx="1935399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75970" y="2817845"/>
            <a:ext cx="1935399" cy="36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Provides context and stimuli for the agent.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90707" y="2354815"/>
            <a:ext cx="1935399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Sensors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90707" y="2726757"/>
            <a:ext cx="1935399" cy="54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Perceive environmental inputs and pass data onward.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76139" y="5360544"/>
            <a:ext cx="1935399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676139" y="5732486"/>
            <a:ext cx="1935399" cy="36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Processes perceptions and decides on actions.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90707" y="5269456"/>
            <a:ext cx="1935399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Actuators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90707" y="5641398"/>
            <a:ext cx="1935399" cy="54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Execute actions that affect the environment.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8086" y="7326313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agent continuously loops through this cycle — sensing, deciding, and acting — to navigate its world and accomplish its objectives.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48580"/>
            <a:ext cx="656216" cy="151408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57913" y="578445"/>
            <a:ext cx="1146146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CONCEPT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98086" y="719931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What is PEAS?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8086" y="1087934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PEAS</a:t>
            </a: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a structured framework used to fully describe the </a:t>
            </a: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task environment</a:t>
            </a: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an intelligent agent. It breaks down an AI system into four essential components.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319709"/>
            <a:ext cx="5276123" cy="527625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836" y="3391991"/>
            <a:ext cx="2613158" cy="5409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7047" y="3504406"/>
            <a:ext cx="233753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2B42D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</a:t>
            </a:r>
            <a:r>
              <a:rPr lang="en-US" sz="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— Performance Measure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387047" y="3700859"/>
            <a:ext cx="233753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the agent's success is evaluated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6801" y="3391991"/>
            <a:ext cx="2613158" cy="5409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50012" y="3504406"/>
            <a:ext cx="233753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7425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</a:t>
            </a:r>
            <a:r>
              <a:rPr lang="en-US" sz="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— Environment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9050012" y="3700859"/>
            <a:ext cx="233753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world in which the agent operates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836" y="3982740"/>
            <a:ext cx="2613158" cy="5409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7047" y="4095155"/>
            <a:ext cx="233753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8A8E2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</a:t>
            </a:r>
            <a:r>
              <a:rPr lang="en-US" sz="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— Actuators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387047" y="4291608"/>
            <a:ext cx="233753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Mechanisms the agent uses to act</a:t>
            </a:r>
            <a:endParaRPr lang="en-US" sz="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6801" y="3982740"/>
            <a:ext cx="2613158" cy="54094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50012" y="4095155"/>
            <a:ext cx="233753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9ABA9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</a:t>
            </a:r>
            <a:r>
              <a:rPr lang="en-US" sz="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— Sensors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9050012" y="4291608"/>
            <a:ext cx="233753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the agent perceives its surroundings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269971" y="640655"/>
            <a:ext cx="1474651" cy="269974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76530" y="693936"/>
            <a:ext cx="1871120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PEAS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269971" y="973832"/>
            <a:ext cx="622363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Why PEAS Makes AI Design Systematic</a:t>
            </a:r>
            <a:endParaRPr lang="en-US" sz="3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2256135"/>
            <a:ext cx="355293" cy="3553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23003" y="2317155"/>
            <a:ext cx="567060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Defines the Goal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23003" y="2673251"/>
            <a:ext cx="5670607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Clarifies what the agent is trying to achieve and how success is measured.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3258344"/>
            <a:ext cx="355293" cy="3553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23003" y="3319363"/>
            <a:ext cx="567060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Identifies the Environment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823003" y="3675459"/>
            <a:ext cx="5670607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Specifies where and under what conditions the agent will operate.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4260552"/>
            <a:ext cx="355293" cy="3553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23003" y="4321572"/>
            <a:ext cx="567060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Guides Sensor Selection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823003" y="4677668"/>
            <a:ext cx="5670607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Determines what the agent needs to perceive to make good decisions.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9971" y="5262761"/>
            <a:ext cx="355293" cy="3553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23003" y="5323780"/>
            <a:ext cx="567060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Guides Actuator Design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5823003" y="5679877"/>
            <a:ext cx="5670607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Defines how the agent will physically interact with and change its environment.</a:t>
            </a:r>
            <a:endParaRPr lang="en-US" sz="13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C9D63F5-670F-4294-FEC7-5250497A6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25400"/>
            <a:ext cx="5072232" cy="688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8086" y="705445"/>
            <a:ext cx="839171" cy="231874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4" name="Text 1"/>
          <p:cNvSpPr/>
          <p:nvPr/>
        </p:nvSpPr>
        <p:spPr>
          <a:xfrm>
            <a:off x="789662" y="751185"/>
            <a:ext cx="1265603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98086" y="984052"/>
            <a:ext cx="6223638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Modern Autonomous Delivery Drones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98086" y="1608534"/>
            <a:ext cx="6223638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Delivery drones use </a:t>
            </a:r>
            <a:r>
              <a:rPr lang="en-US" sz="12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AI, computer vision, and sensor fusion</a:t>
            </a: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transport packages from distribution centers directly to customers — navigating complex real-world environments with minimal human intervention.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8086" y="2386806"/>
            <a:ext cx="6223638" cy="853777"/>
          </a:xfrm>
          <a:prstGeom prst="roundRect">
            <a:avLst>
              <a:gd name="adj" fmla="val 26832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829" y="2558554"/>
            <a:ext cx="588015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Package Transport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9829" y="2853234"/>
            <a:ext cx="5880151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From warehouse to doorstep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8086" y="3357463"/>
            <a:ext cx="6223638" cy="853777"/>
          </a:xfrm>
          <a:prstGeom prst="roundRect">
            <a:avLst>
              <a:gd name="adj" fmla="val 26832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9829" y="3529211"/>
            <a:ext cx="588015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AI Navigation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9829" y="3823891"/>
            <a:ext cx="5880151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route planning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8086" y="4328120"/>
            <a:ext cx="6223638" cy="853777"/>
          </a:xfrm>
          <a:prstGeom prst="roundRect">
            <a:avLst>
              <a:gd name="adj" fmla="val 26832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9829" y="4499868"/>
            <a:ext cx="588015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Twemoji Mozilla" pitchFamily="34" charset="-120"/>
              </a:rPr>
              <a:t>🚧</a:t>
            </a: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Obstacle Avoidance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9829" y="4794548"/>
            <a:ext cx="5880151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Dynamic environment sensing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8086" y="5298777"/>
            <a:ext cx="6223638" cy="853777"/>
          </a:xfrm>
          <a:prstGeom prst="roundRect">
            <a:avLst>
              <a:gd name="adj" fmla="val 26832"/>
            </a:avLst>
          </a:prstGeom>
          <a:solidFill>
            <a:srgbClr val="00002E"/>
          </a:solidFill>
          <a:ln w="19050">
            <a:solidFill>
              <a:srgbClr val="48A8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829" y="5470525"/>
            <a:ext cx="588015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Energy Balance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9829" y="5765205"/>
            <a:ext cx="5880151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Safety, speed &amp; battery trade-offs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D7E536D-3922-F432-03C8-62B4C9FB7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466" y="1"/>
            <a:ext cx="50985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71103"/>
            <a:ext cx="1105071" cy="213122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82221" y="613172"/>
            <a:ext cx="1546385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 — PERFORMANCE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8086" y="823615"/>
            <a:ext cx="10795524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Performance Measures of a Delivery Drone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98086" y="1383903"/>
            <a:ext cx="1140510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drone's success is evaluated across multiple dimensions — all must be optimized together.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8086" y="1685925"/>
            <a:ext cx="5348451" cy="1281509"/>
          </a:xfrm>
          <a:prstGeom prst="roundRect">
            <a:avLst>
              <a:gd name="adj" fmla="val 16417"/>
            </a:avLst>
          </a:prstGeom>
          <a:solidFill>
            <a:srgbClr val="00002E"/>
          </a:solidFill>
          <a:ln w="12700">
            <a:solidFill>
              <a:srgbClr val="F2B4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978" y="1838821"/>
            <a:ext cx="420776" cy="420787"/>
          </a:xfrm>
          <a:prstGeom prst="ellipse">
            <a:avLst/>
          </a:prstGeom>
          <a:solidFill>
            <a:srgbClr val="F2B42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664" y="1954510"/>
            <a:ext cx="189305" cy="1893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978" y="2358132"/>
            <a:ext cx="5042667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Safe Delivery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0978" y="2623443"/>
            <a:ext cx="504266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Collision avoidance and safe landing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5059" y="1685925"/>
            <a:ext cx="5348551" cy="1281509"/>
          </a:xfrm>
          <a:prstGeom prst="roundRect">
            <a:avLst>
              <a:gd name="adj" fmla="val 16417"/>
            </a:avLst>
          </a:prstGeom>
          <a:solidFill>
            <a:srgbClr val="00002E"/>
          </a:solidFill>
          <a:ln w="12700">
            <a:solidFill>
              <a:srgbClr val="D742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97951" y="1838821"/>
            <a:ext cx="420776" cy="420787"/>
          </a:xfrm>
          <a:prstGeom prst="ellipse">
            <a:avLst/>
          </a:prstGeom>
          <a:solidFill>
            <a:srgbClr val="D7425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637" y="1954510"/>
            <a:ext cx="189305" cy="1893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97951" y="2358132"/>
            <a:ext cx="5042766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297951" y="2623443"/>
            <a:ext cx="504276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Deliver to the correct GPS location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8086" y="3065959"/>
            <a:ext cx="5348451" cy="1281509"/>
          </a:xfrm>
          <a:prstGeom prst="roundRect">
            <a:avLst>
              <a:gd name="adj" fmla="val 16417"/>
            </a:avLst>
          </a:prstGeom>
          <a:solidFill>
            <a:srgbClr val="00002E"/>
          </a:solidFill>
          <a:ln w="12700">
            <a:solidFill>
              <a:srgbClr val="DD78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0978" y="3218855"/>
            <a:ext cx="420776" cy="420787"/>
          </a:xfrm>
          <a:prstGeom prst="ellipse">
            <a:avLst/>
          </a:prstGeom>
          <a:solidFill>
            <a:srgbClr val="DD785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664" y="3334544"/>
            <a:ext cx="189305" cy="18930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978" y="3738166"/>
            <a:ext cx="5042667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Speed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50978" y="4003477"/>
            <a:ext cx="504266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Minimize delivery time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45059" y="3065959"/>
            <a:ext cx="5348551" cy="1281509"/>
          </a:xfrm>
          <a:prstGeom prst="roundRect">
            <a:avLst>
              <a:gd name="adj" fmla="val 16417"/>
            </a:avLst>
          </a:prstGeom>
          <a:solidFill>
            <a:srgbClr val="00002E"/>
          </a:solidFill>
          <a:ln w="12700">
            <a:solidFill>
              <a:srgbClr val="48A8E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97951" y="3218855"/>
            <a:ext cx="420776" cy="420787"/>
          </a:xfrm>
          <a:prstGeom prst="ellipse">
            <a:avLst/>
          </a:prstGeom>
          <a:solidFill>
            <a:srgbClr val="48A8E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637" y="3334544"/>
            <a:ext cx="189305" cy="18930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97951" y="3738166"/>
            <a:ext cx="5042766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Efficiency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297951" y="4003477"/>
            <a:ext cx="504276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Optimize battery consumption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98086" y="4445992"/>
            <a:ext cx="5348451" cy="1281509"/>
          </a:xfrm>
          <a:prstGeom prst="roundRect">
            <a:avLst>
              <a:gd name="adj" fmla="val 16417"/>
            </a:avLst>
          </a:prstGeom>
          <a:solidFill>
            <a:srgbClr val="00002E"/>
          </a:solidFill>
          <a:ln w="12700">
            <a:solidFill>
              <a:srgbClr val="59ABA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50978" y="4598888"/>
            <a:ext cx="420776" cy="420787"/>
          </a:xfrm>
          <a:prstGeom prst="ellipse">
            <a:avLst/>
          </a:prstGeom>
          <a:solidFill>
            <a:srgbClr val="59ABA9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6664" y="4714577"/>
            <a:ext cx="189305" cy="18930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50978" y="5118199"/>
            <a:ext cx="5042667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Package Integrity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850978" y="5383510"/>
            <a:ext cx="504266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Keep contents safe and undamaged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145059" y="4445992"/>
            <a:ext cx="5348551" cy="1281509"/>
          </a:xfrm>
          <a:prstGeom prst="roundRect">
            <a:avLst>
              <a:gd name="adj" fmla="val 16417"/>
            </a:avLst>
          </a:prstGeom>
          <a:solidFill>
            <a:srgbClr val="00002E"/>
          </a:solidFill>
          <a:ln w="12700">
            <a:solidFill>
              <a:srgbClr val="F2B42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97951" y="4598888"/>
            <a:ext cx="420776" cy="420787"/>
          </a:xfrm>
          <a:prstGeom prst="ellipse">
            <a:avLst/>
          </a:prstGeom>
          <a:solidFill>
            <a:srgbClr val="F2B42D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637" y="4714577"/>
            <a:ext cx="189305" cy="18930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97951" y="5118199"/>
            <a:ext cx="5042766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297951" y="5383510"/>
            <a:ext cx="504276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Consistent operation under varied conditions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98086" y="5838428"/>
            <a:ext cx="10795524" cy="448370"/>
          </a:xfrm>
          <a:prstGeom prst="roundRect">
            <a:avLst>
              <a:gd name="adj" fmla="val 46923"/>
            </a:avLst>
          </a:prstGeom>
          <a:solidFill>
            <a:srgbClr val="785507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78" y="5982593"/>
            <a:ext cx="175315" cy="1401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53786" y="5971977"/>
            <a:ext cx="1080921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Good Performance = Safe + Accurate + Fast + Energy Efficient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50366"/>
            <a:ext cx="948309" cy="184646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71010" y="586780"/>
            <a:ext cx="1412046" cy="11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 — ENVIRONMENT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98086" y="764580"/>
            <a:ext cx="10795524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Environment of a Delivery Drone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778717" y="2295294"/>
            <a:ext cx="3585676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Delivery drones operate in a </a:t>
            </a: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dynamic, partially observable environment</a:t>
            </a: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conditions can change mid-flight, and the drone cannot perceive everything at once.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626" y="5404148"/>
            <a:ext cx="182260" cy="1822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3066" y="5400377"/>
            <a:ext cx="4956448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Physical Structures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93066" y="5623421"/>
            <a:ext cx="4956448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Buildings, houses, trees, power lines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7254" y="5510233"/>
            <a:ext cx="182260" cy="1822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37062" y="5400377"/>
            <a:ext cx="495654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Dynamic Obstacles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537062" y="5623421"/>
            <a:ext cx="495654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Roads, vehicles, pedestrians, animals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626" y="5931793"/>
            <a:ext cx="182260" cy="1822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3066" y="5928023"/>
            <a:ext cx="4956448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Airspace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093066" y="6151066"/>
            <a:ext cx="4956448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Other drones, aircraft, no-fly zones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6537062" y="5928023"/>
            <a:ext cx="495654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External Conditions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6537062" y="6151066"/>
            <a:ext cx="495654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Weather, GPS signal quality, lighting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659C65-33B5-2093-6CF5-8381F2DDD2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842" y="1166416"/>
            <a:ext cx="5927825" cy="4085828"/>
          </a:xfrm>
          <a:prstGeom prst="rect">
            <a:avLst/>
          </a:prstGeom>
        </p:spPr>
      </p:pic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CECE10B9-4507-F083-9AC2-E2160A8A36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3588" y="6002287"/>
            <a:ext cx="182260" cy="182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12577"/>
            <a:ext cx="894832" cy="203696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78451" y="652760"/>
            <a:ext cx="1343686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— ACTUATORS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852289"/>
            <a:ext cx="10795524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Actuators of a Delivery Drone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98086" y="1381423"/>
            <a:ext cx="1140510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Actuators are the </a:t>
            </a:r>
            <a:r>
              <a:rPr lang="en-US" sz="10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physical mechanisms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that allow the drone to act on its environment — converting AI decisions into real-world movement and operations.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4027" y="1763216"/>
            <a:ext cx="3565833" cy="80416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4204" y="2064742"/>
            <a:ext cx="201012" cy="2010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79131" y="1916212"/>
            <a:ext cx="2767737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Propeller Motors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579131" y="2203252"/>
            <a:ext cx="276773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Control thrust, altitude, and movement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4027" y="2657376"/>
            <a:ext cx="3565833" cy="80416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4204" y="2958902"/>
            <a:ext cx="201012" cy="20101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579131" y="2810371"/>
            <a:ext cx="2767737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Flight Control System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579131" y="3097411"/>
            <a:ext cx="276773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Manages direction, stability, and orientation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4027" y="3551535"/>
            <a:ext cx="3565833" cy="804168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14204" y="3853061"/>
            <a:ext cx="201012" cy="20101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579131" y="3704530"/>
            <a:ext cx="2767737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Package Release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8579131" y="3991570"/>
            <a:ext cx="276773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Securely drops the package at destination</a:t>
            </a:r>
            <a:endParaRPr lang="en-US" sz="10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4027" y="4445695"/>
            <a:ext cx="3565833" cy="804168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14204" y="4747220"/>
            <a:ext cx="201012" cy="201017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8579131" y="4598690"/>
            <a:ext cx="2767737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Landing Mechanism</a:t>
            </a:r>
            <a:endParaRPr lang="en-US" sz="1200" dirty="0"/>
          </a:p>
        </p:txBody>
      </p:sp>
      <p:sp>
        <p:nvSpPr>
          <p:cNvPr id="22" name="Text 11"/>
          <p:cNvSpPr/>
          <p:nvPr/>
        </p:nvSpPr>
        <p:spPr>
          <a:xfrm>
            <a:off x="8579131" y="4885730"/>
            <a:ext cx="276773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Supports controlled touchdown</a:t>
            </a:r>
            <a:endParaRPr lang="en-US" sz="105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34027" y="5339854"/>
            <a:ext cx="3565833" cy="804168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14204" y="5641380"/>
            <a:ext cx="201012" cy="201017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8579131" y="5492849"/>
            <a:ext cx="2767737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Communication System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8579131" y="5779889"/>
            <a:ext cx="276773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Sends status updates and alerts to base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A78E948-8519-D60C-17D8-786561DBCE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763216"/>
            <a:ext cx="7781035" cy="50947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82017"/>
            <a:ext cx="928664" cy="241498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93432" y="629642"/>
            <a:ext cx="1347555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 — SENSORS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8086" y="874117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Sensors of a Delivery Drone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98086" y="1531640"/>
            <a:ext cx="1140510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Sensors give the drone its </a:t>
            </a:r>
            <a:r>
              <a:rPr lang="en-US" sz="12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situational awareness</a:t>
            </a: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enabling it to perceive position, obstacles, altitude, and system health in real time.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902520"/>
            <a:ext cx="1135233" cy="11352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8086" y="3196034"/>
            <a:ext cx="258011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8086" y="3505795"/>
            <a:ext cx="2580119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Position tracking and global navigation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455" y="1902520"/>
            <a:ext cx="1135233" cy="11352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36455" y="3196034"/>
            <a:ext cx="2580218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Cameras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436455" y="3505795"/>
            <a:ext cx="2580218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Visual perception and obstacle detection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923" y="1902520"/>
            <a:ext cx="1135233" cy="11352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4923" y="3196034"/>
            <a:ext cx="2580218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IMU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174923" y="3505795"/>
            <a:ext cx="2580218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Orientation, acceleration, and movement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391" y="1902520"/>
            <a:ext cx="1135233" cy="11352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13391" y="3196034"/>
            <a:ext cx="2580218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Altimeter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8913391" y="3505795"/>
            <a:ext cx="258021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Measures altitude above ground level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86" y="4215904"/>
            <a:ext cx="1135233" cy="11352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8086" y="5509419"/>
            <a:ext cx="258011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Proximity Sensors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98086" y="5819180"/>
            <a:ext cx="2580119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 nearby objects and obstacles</a:t>
            </a:r>
            <a:endParaRPr lang="en-US" sz="12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6455" y="4215904"/>
            <a:ext cx="1135233" cy="113526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36455" y="5509419"/>
            <a:ext cx="2580218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Battery Sensors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3436455" y="5819180"/>
            <a:ext cx="2580218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 charge level and battery health</a:t>
            </a:r>
            <a:endParaRPr lang="en-US" sz="12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67B910-9B4F-ECDC-2927-AE1DCE4F3C38}"/>
              </a:ext>
            </a:extLst>
          </p:cNvPr>
          <p:cNvSpPr txBox="1"/>
          <p:nvPr/>
        </p:nvSpPr>
        <p:spPr>
          <a:xfrm>
            <a:off x="-502920" y="2484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48580"/>
            <a:ext cx="473658" cy="151408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57913" y="578445"/>
            <a:ext cx="963588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SUMMARY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98086" y="719931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Complete PEAS Summary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087934"/>
          <a:ext cx="9143771" cy="914400"/>
        </p:xfrm>
        <a:graphic>
          <a:graphicData uri="http://schemas.openxmlformats.org/drawingml/2006/table">
            <a:tbl>
              <a:tblPr/>
              <a:tblGrid>
                <a:gridCol w="323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252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PEAS Component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2525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Modern Delivery Drone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Performance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Safe delivery, accuracy, speed, battery efficiency, package integrity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4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Environment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Buildings, roads, people, weather, obstacles, airspace, GPS conditions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4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Actuators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Propeller motors, flight controls, package release, landing mechanism, comms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Sensors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GPS, cameras, IMU, altimeter, proximity sensors, battery sensors</a:t>
                      </a:r>
                      <a:endParaRPr lang="en-US" sz="8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B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08" y="2142530"/>
            <a:ext cx="10319980" cy="40458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2816" y="2340946"/>
            <a:ext cx="188918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Sense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19409" y="2340946"/>
            <a:ext cx="188918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Process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119409" y="5704282"/>
            <a:ext cx="188918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182816" y="5704282"/>
            <a:ext cx="188918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Deliver</a:t>
            </a:r>
            <a:endParaRPr lang="en-US" sz="1800" dirty="0"/>
          </a:p>
        </p:txBody>
      </p:sp>
      <p:sp>
        <p:nvSpPr>
          <p:cNvPr id="5" name="Text 7"/>
          <p:cNvSpPr/>
          <p:nvPr/>
        </p:nvSpPr>
        <p:spPr>
          <a:xfrm>
            <a:off x="698086" y="6244431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drone continuously repeats this loop during flight — sensing, processing, acting, and adapting in real time.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47605" y="6476206"/>
            <a:ext cx="1125559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"PEAS helps us understand what an intelligent agent should achieve, where it operates, how it acts, and how it perceives."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698086" y="6420148"/>
            <a:ext cx="12700" cy="231775"/>
          </a:xfrm>
          <a:prstGeom prst="roundRect">
            <a:avLst>
              <a:gd name="adj" fmla="val 49999"/>
            </a:avLst>
          </a:prstGeom>
          <a:solidFill>
            <a:srgbClr val="F2B42D"/>
          </a:solidFill>
          <a:ln/>
        </p:spPr>
      </p:sp>
      <p:sp>
        <p:nvSpPr>
          <p:cNvPr id="14" name="Text 10"/>
          <p:cNvSpPr/>
          <p:nvPr/>
        </p:nvSpPr>
        <p:spPr>
          <a:xfrm>
            <a:off x="698086" y="6707981"/>
            <a:ext cx="10795524" cy="29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References: Russell &amp; Norvig, "Artificial Intelligence: A Modern Approach" (4th Ed.) · FAA UAS Guidelines · IEEE Robotics &amp; Automation Society</a:t>
            </a:r>
            <a:endParaRPr lang="en-US" sz="7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Lakshvir Singh</a:t>
            </a: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PRN: 25UAM038 · CSE (AI &amp; ML)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779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PT Sans</vt:lpstr>
      <vt:lpstr>Arial</vt:lpstr>
      <vt:lpstr>PT Sans Bold</vt:lpstr>
      <vt:lpstr>Nunito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Lakshvir</dc:creator>
  <cp:lastModifiedBy>lakshvir01@gmail.com</cp:lastModifiedBy>
  <cp:revision>3</cp:revision>
  <dcterms:created xsi:type="dcterms:W3CDTF">2026-08-29T19:47:15Z</dcterms:created>
  <dcterms:modified xsi:type="dcterms:W3CDTF">2026-08-29T20:25:36Z</dcterms:modified>
</cp:coreProperties>
</file>