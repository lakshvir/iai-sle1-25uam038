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1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INTELLIGENT AGENTS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PEAS Framework in 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 • Environment • Actuators • Sensors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through a real-world intelligent agent: the modern autonomous delivery drone.</a:t>
            </a:r>
            <a:endParaRPr lang="en-US" sz="1300" dirty="0"/>
          </a:p>
        </p:txBody>
      </p:sp>
      <p:pic>
        <p:nvPicPr>
          <p:cNvPr id="8" name="Image 0" descr="dron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508760"/>
            <a:ext cx="4206240" cy="32735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5989320"/>
            <a:ext cx="4937760" cy="0"/>
          </a:xfrm>
          <a:prstGeom prst="line">
            <a:avLst/>
          </a:prstGeom>
          <a:noFill/>
          <a:ln w="12700">
            <a:solidFill>
              <a:srgbClr val="2E3F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· Intelligent Agents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PEAS?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can build a rational agent, we must describe its task environment. PEAS is the standard checklist AI designers use to do that — for every agent, ask what it should achieve, where it operates, how it acts, and how it perceives.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5" y="270159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5877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Performance Measure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2898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used to judge success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4472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icons/publ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5" y="3542843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429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Environment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34440" y="37398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the agent operates within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2" descr="icons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5" y="4384091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2702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Actuators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34440" y="458114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mechanisms the agent acts through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512978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3" descr="icons/senso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5" y="5225339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51114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Sensors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234440" y="54223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inputs the agent perceives the world with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635240" y="1005840"/>
            <a:ext cx="3977640" cy="5074920"/>
          </a:xfrm>
          <a:prstGeom prst="roundRect">
            <a:avLst>
              <a:gd name="adj" fmla="val 2759"/>
            </a:avLst>
          </a:prstGeom>
          <a:solidFill>
            <a:srgbClr val="1B2A4A"/>
          </a:solidFill>
          <a:ln/>
        </p:spPr>
      </p:sp>
      <p:pic>
        <p:nvPicPr>
          <p:cNvPr id="22" name="Image 4" descr="drone_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417320"/>
            <a:ext cx="3429000" cy="26609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09560" y="4251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909560" y="4526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Delivery Drone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09560" y="4983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quadcopter that picks up a package and flies it to a customer's doorstep — no human pilot required.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2004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E3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1417320" y="68580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142" y="858622"/>
            <a:ext cx="477317" cy="4773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31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Measure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3063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the agent is doing a good job?</a:t>
            </a:r>
            <a:endParaRPr lang="en-US" sz="1150" dirty="0"/>
          </a:p>
        </p:txBody>
      </p:sp>
      <p:pic>
        <p:nvPicPr>
          <p:cNvPr id="8" name="Image 1" descr="drone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977640"/>
            <a:ext cx="2651760" cy="2057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947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· DRONE EXAMPLE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94760" y="86868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measure defines success for an agent — the objective an intelligent system is designed to optimize. A well-designed agent should never be told directly how to act; instead it is evaluated against this measure.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947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delivery drone: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794760" y="242316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77640" y="2542032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4" name="Image 2" descr="icons/tim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14" y="2653406"/>
            <a:ext cx="307604" cy="3076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496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09160" y="27889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packages delivered within the promised time window.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94760" y="3355848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977640" y="3474720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9" name="Image 3" descr="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014" y="3586094"/>
            <a:ext cx="307604" cy="3076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09160" y="3429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709160" y="3721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usage minimized per trip to maximize range and reduce cost.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794760" y="4288536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977640" y="4407408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4" name="Image 4" descr="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014" y="4518782"/>
            <a:ext cx="307604" cy="3076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09160" y="4361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of flight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709160" y="465429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collisions with people, buildings, and other aircraft.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3794760" y="5221224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977640" y="5340096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9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014" y="5451470"/>
            <a:ext cx="307604" cy="30760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709160" y="52943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accuracy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709160" y="558698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placed intact at the correct address, undamaged.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2004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E3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1417320" y="68580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icons/publ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142" y="858622"/>
            <a:ext cx="477317" cy="4773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31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3063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world the agent must operate in?</a:t>
            </a:r>
            <a:endParaRPr lang="en-US" sz="1150" dirty="0"/>
          </a:p>
        </p:txBody>
      </p:sp>
      <p:pic>
        <p:nvPicPr>
          <p:cNvPr id="8" name="Image 1" descr="drone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977640"/>
            <a:ext cx="2651760" cy="2057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947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· DRONE EXAMPLE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94760" y="86868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is everything the agent perceives and acts upon — often partially observable, dynamic, and unpredictable. Understanding it shapes every design decision that follows.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947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delivery drone: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794760" y="242316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77640" y="2542032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4" name="Image 2" descr="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14" y="2653406"/>
            <a:ext cx="307604" cy="3076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496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urban airspace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09160" y="27889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Streets, rooftops, trees, and power lines share the same low-altitude airspace.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94760" y="3355848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977640" y="3474720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9" name="Image 3" descr="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014" y="3586094"/>
            <a:ext cx="307604" cy="3076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09160" y="3429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709160" y="3721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gusts, rain, and low visibility constantly change flight conditions.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794760" y="4288536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977640" y="4407408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4" name="Image 4" descr="icons/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014" y="4518782"/>
            <a:ext cx="307604" cy="3076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09160" y="4361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No-fly zones &amp; traffic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709160" y="465429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airspace, other drones, and birds must be tracked and avoided.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3794760" y="5221224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977640" y="5340096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9" name="Image 5" descr="icons/publ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014" y="5451470"/>
            <a:ext cx="307604" cy="30760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709160" y="52943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obstacles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709160" y="558698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Pedestrians, vehicles, and pets move unpredictably near landing sites.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2004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E3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1417320" y="68580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142" y="858622"/>
            <a:ext cx="477317" cy="4773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31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3063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agent act upon its environment?</a:t>
            </a:r>
            <a:endParaRPr lang="en-US" sz="1150" dirty="0"/>
          </a:p>
        </p:txBody>
      </p:sp>
      <p:pic>
        <p:nvPicPr>
          <p:cNvPr id="8" name="Image 1" descr="drone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977640"/>
            <a:ext cx="2651760" cy="2057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947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· DRONE EXAMPLE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94760" y="86868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are the mechanisms through which an agent executes actions and produces effects in its environment — turning a decision into physical motion.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947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delivery drone: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794760" y="242316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77640" y="2542032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4" name="Image 2" descr="icons/propel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14" y="2653406"/>
            <a:ext cx="307604" cy="3076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496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motors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09160" y="27889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(or more) motors spin propellers to control lift, pitch, and yaw.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94760" y="3355848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977640" y="3474720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9" name="Image 3" descr="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014" y="3586094"/>
            <a:ext cx="307604" cy="3076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09160" y="3429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 surfaces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709160" y="3721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motor speed differentials to steer, ascend, and hover precisely.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794760" y="4288536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977640" y="4407408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4" name="Image 4" descr="icons/settin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014" y="4518782"/>
            <a:ext cx="307604" cy="3076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09160" y="4361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release mechanism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709160" y="465429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winch or claw lowers and releases the parcel at the destination.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3794760" y="5221224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977640" y="5340096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9" name="Image 5" descr="icons/batte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014" y="5451470"/>
            <a:ext cx="307604" cy="30760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709160" y="52943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gear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709160" y="558698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and retracts for safe takeoff and touchdown.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2004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E3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1417320" y="68580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icons/sens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142" y="858622"/>
            <a:ext cx="477317" cy="4773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31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65760" y="3063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agent perceive its environment?</a:t>
            </a:r>
            <a:endParaRPr lang="en-US" sz="1150" dirty="0"/>
          </a:p>
        </p:txBody>
      </p:sp>
      <p:pic>
        <p:nvPicPr>
          <p:cNvPr id="8" name="Image 1" descr="drone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977640"/>
            <a:ext cx="2651760" cy="2057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947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· DRONE EXAMPLE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94760" y="86868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are the agent's inputs — the raw percepts it receives from the environment, which it must interpret to decide on rational actions.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947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delivery drone: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794760" y="242316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77640" y="2542032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4" name="Image 2" descr="icons/gp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14" y="2653406"/>
            <a:ext cx="307604" cy="3076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496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IMU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09160" y="27889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precise location, altitude, orientation, and speed in real time.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94760" y="3355848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977640" y="3474720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9" name="Image 3" descr="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014" y="3586094"/>
            <a:ext cx="307604" cy="3076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09160" y="3429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709160" y="372160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feed for landing-site recognition and visual obstacle detection.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794760" y="4288536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977640" y="4407408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4" name="Image 4" descr="icons/ra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014" y="4518782"/>
            <a:ext cx="307604" cy="3076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09160" y="4361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&amp; ultrasonic sensors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709160" y="465429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nearby obstacles like wires, branches, and walls at close range.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3794760" y="5221224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977640" y="5340096"/>
            <a:ext cx="530352" cy="530352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9" name="Image 5" descr="icons/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014" y="5451470"/>
            <a:ext cx="307604" cy="30760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709160" y="52943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Barometer &amp; wind sensors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709160" y="558698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altitude changes and wind conditions to stabilize flight.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PEAS Summary: The Delivery Drone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complete task-environment description for an autonomous delivery drone agent.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78608" cy="3246120"/>
          </a:xfrm>
          <a:prstGeom prst="roundRect">
            <a:avLst>
              <a:gd name="adj" fmla="val 354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3055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1563624" y="29260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8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" y="3041294"/>
            <a:ext cx="318211" cy="3182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59359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11480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safe, energy-efficient, damage-free deliveries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28416" y="1965960"/>
            <a:ext cx="2578608" cy="3246120"/>
          </a:xfrm>
          <a:prstGeom prst="roundRect">
            <a:avLst>
              <a:gd name="adj" fmla="val 3546"/>
            </a:avLst>
          </a:prstGeom>
          <a:solidFill>
            <a:srgbClr val="1B2A4A"/>
          </a:solidFill>
          <a:ln/>
        </p:spPr>
      </p:sp>
      <p:sp>
        <p:nvSpPr>
          <p:cNvPr id="12" name="Text 9"/>
          <p:cNvSpPr/>
          <p:nvPr/>
        </p:nvSpPr>
        <p:spPr>
          <a:xfrm>
            <a:off x="3328416" y="213055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600" dirty="0"/>
          </a:p>
        </p:txBody>
      </p:sp>
      <p:sp>
        <p:nvSpPr>
          <p:cNvPr id="13" name="Shape 10"/>
          <p:cNvSpPr/>
          <p:nvPr/>
        </p:nvSpPr>
        <p:spPr>
          <a:xfrm>
            <a:off x="4343400" y="29260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4" name="Image 1" descr="icons/publ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614" y="3041294"/>
            <a:ext cx="318211" cy="31821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65576" y="359359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11296" y="411480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airspace, weather, no-fly zones, moving obstacles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08192" y="1965960"/>
            <a:ext cx="2578608" cy="3246120"/>
          </a:xfrm>
          <a:prstGeom prst="roundRect">
            <a:avLst>
              <a:gd name="adj" fmla="val 3546"/>
            </a:avLst>
          </a:prstGeom>
          <a:solidFill>
            <a:srgbClr val="1B2A4A"/>
          </a:solidFill>
          <a:ln/>
        </p:spPr>
      </p:sp>
      <p:sp>
        <p:nvSpPr>
          <p:cNvPr id="18" name="Text 14"/>
          <p:cNvSpPr/>
          <p:nvPr/>
        </p:nvSpPr>
        <p:spPr>
          <a:xfrm>
            <a:off x="6108192" y="213055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7123176" y="29260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0" name="Image 2" descr="icons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0" y="3041294"/>
            <a:ext cx="318211" cy="31821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45352" y="359359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91072" y="411480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motors, flight controls, package-release winch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887968" y="1965960"/>
            <a:ext cx="2578608" cy="3246120"/>
          </a:xfrm>
          <a:prstGeom prst="roundRect">
            <a:avLst>
              <a:gd name="adj" fmla="val 3546"/>
            </a:avLst>
          </a:prstGeom>
          <a:solidFill>
            <a:srgbClr val="1B2A4A"/>
          </a:solidFill>
          <a:ln/>
        </p:spPr>
      </p:sp>
      <p:sp>
        <p:nvSpPr>
          <p:cNvPr id="24" name="Text 19"/>
          <p:cNvSpPr/>
          <p:nvPr/>
        </p:nvSpPr>
        <p:spPr>
          <a:xfrm>
            <a:off x="8887968" y="213055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600" dirty="0"/>
          </a:p>
        </p:txBody>
      </p:sp>
      <p:sp>
        <p:nvSpPr>
          <p:cNvPr id="25" name="Shape 20"/>
          <p:cNvSpPr/>
          <p:nvPr/>
        </p:nvSpPr>
        <p:spPr>
          <a:xfrm>
            <a:off x="9902952" y="29260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6" name="Image 3" descr="icons/senso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166" y="3041294"/>
            <a:ext cx="318211" cy="31821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25128" y="359359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070848" y="411480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GPS/IMU, cameras, LiDAR, barometer, wind sensors</a:t>
            </a:r>
            <a:endParaRPr lang="en-US" sz="1050" dirty="0"/>
          </a:p>
        </p:txBody>
      </p:sp>
      <p:pic>
        <p:nvPicPr>
          <p:cNvPr id="29" name="Image 4" descr="dron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5440680"/>
            <a:ext cx="1051560" cy="8229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type: Goal-based, reflex-augmented, partially observable, multi-agent environment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PEAS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Better Design Starts With a Better Definition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56946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0487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forces designers to precisely scope an agent's goals before writing a single line of behavior.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43814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7355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reveals environment properties (observability, dynamics, number of agents) that determine which AI techniques will work.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30682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14223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applies to every intelligent agent — from a delivery drone to a self-driving car or a chess program.</a:t>
            </a:r>
            <a:endParaRPr lang="en-US" sz="1350" dirty="0"/>
          </a:p>
        </p:txBody>
      </p:sp>
      <p:pic>
        <p:nvPicPr>
          <p:cNvPr id="11" name="Image 0" descr="dron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737360"/>
            <a:ext cx="3977640" cy="30906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35240" y="498348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202B4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512064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agent is rational if it does the right thing — as defined by the performance measure.”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5058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